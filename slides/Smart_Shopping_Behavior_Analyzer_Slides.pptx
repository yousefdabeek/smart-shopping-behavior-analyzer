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327648"/>
            <a:ext cx="10972800" cy="0"/>
          </a:xfrm>
          <a:prstGeom prst="line">
            <a:avLst/>
          </a:prstGeom>
          <a:noFill/>
          <a:ln w="12700">
            <a:solidFill>
              <a:srgbClr val="2330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80160" y="1225296"/>
            <a:ext cx="841248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SMART SHOPPING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BEHAVIOR ANALYZER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298448" y="2971800"/>
            <a:ext cx="2926080" cy="0"/>
          </a:xfrm>
          <a:prstGeom prst="line">
            <a:avLst/>
          </a:prstGeom>
          <a:noFill/>
          <a:ln w="25400">
            <a:solidFill>
              <a:srgbClr val="FF4D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ADA"/>
                </a:solidFill>
              </a:rPr>
              <a:t>Using Unsupervised Learning Techniques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8448" y="37947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A store-friendly analytics dashboard that groups customers, discovers product patterns, and detects unusual behavior from transaction data.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98448" y="4800600"/>
            <a:ext cx="1417320" cy="320040"/>
          </a:xfrm>
          <a:prstGeom prst="roundRect">
            <a:avLst>
              <a:gd name="adj" fmla="val 34286"/>
            </a:avLst>
          </a:prstGeom>
          <a:solidFill>
            <a:srgbClr val="00CADA">
              <a:alpha val="92000"/>
            </a:srgbClr>
          </a:solidFill>
          <a:ln w="12700">
            <a:solidFill>
              <a:srgbClr val="00CADA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89888" y="4864608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GMM Clustering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880360" y="4800600"/>
            <a:ext cx="1097280" cy="320040"/>
          </a:xfrm>
          <a:prstGeom prst="roundRect">
            <a:avLst>
              <a:gd name="adj" fmla="val 34286"/>
            </a:avLst>
          </a:prstGeom>
          <a:solidFill>
            <a:srgbClr val="00CADA">
              <a:alpha val="92000"/>
            </a:srgbClr>
          </a:solidFill>
          <a:ln w="12700">
            <a:solidFill>
              <a:srgbClr val="00CADA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71800" y="48646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t-SNE Map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60520" y="4800600"/>
            <a:ext cx="1234440" cy="320040"/>
          </a:xfrm>
          <a:prstGeom prst="roundRect">
            <a:avLst>
              <a:gd name="adj" fmla="val 34286"/>
            </a:avLst>
          </a:prstGeom>
          <a:solidFill>
            <a:srgbClr val="00CADA">
              <a:alpha val="92000"/>
            </a:srgbClr>
          </a:solidFill>
          <a:ln w="12700">
            <a:solidFill>
              <a:srgbClr val="00CADA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4864608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Apriori Rules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577840" y="4800600"/>
            <a:ext cx="1463040" cy="320040"/>
          </a:xfrm>
          <a:prstGeom prst="roundRect">
            <a:avLst>
              <a:gd name="adj" fmla="val 34286"/>
            </a:avLst>
          </a:prstGeom>
          <a:solidFill>
            <a:srgbClr val="00CADA">
              <a:alpha val="92000"/>
            </a:srgbClr>
          </a:solidFill>
          <a:ln w="12700">
            <a:solidFill>
              <a:srgbClr val="00CADA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486460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Isolation Forest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98448" y="55138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6-minute presentation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Shopping Behavior Analyzer  |  Data Mining Final Project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A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327648"/>
            <a:ext cx="10972800" cy="0"/>
          </a:xfrm>
          <a:prstGeom prst="line">
            <a:avLst/>
          </a:prstGeom>
          <a:noFill/>
          <a:ln w="12700">
            <a:solidFill>
              <a:srgbClr val="2330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&amp; Objective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042416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project matters for real store owners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7280" cy="0"/>
          </a:xfrm>
          <a:prstGeom prst="line">
            <a:avLst/>
          </a:prstGeom>
          <a:noFill/>
          <a:ln w="25400">
            <a:solidFill>
              <a:srgbClr val="FF4D6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874520"/>
            <a:ext cx="5212080" cy="3383280"/>
          </a:xfrm>
          <a:prstGeom prst="roundRect">
            <a:avLst>
              <a:gd name="adj" fmla="val 324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148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Problem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2697480"/>
            <a:ext cx="45262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Stores collect many transactions but cannot easily understand patterns.</a:t>
            </a:r>
            <a:endParaRPr lang="en-US" sz="1550" dirty="0"/>
          </a:p>
          <a:p>
            <a:r>
              <a:rPr lang="en-US" sz="15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groups are hidden inside raw sales data.</a:t>
            </a:r>
            <a:endParaRPr lang="en-US" sz="1550" dirty="0"/>
          </a:p>
          <a:p>
            <a:r>
              <a:rPr lang="en-US" sz="15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relationships are difficult to discover manually.</a:t>
            </a:r>
            <a:endParaRPr lang="en-US" sz="1550" dirty="0"/>
          </a:p>
          <a:p>
            <a:r>
              <a:rPr lang="en-US" sz="15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Unusual customers may be missed without analysis.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309360" y="1874520"/>
            <a:ext cx="5212080" cy="3383280"/>
          </a:xfrm>
          <a:prstGeom prst="roundRect">
            <a:avLst>
              <a:gd name="adj" fmla="val 324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148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Our Objective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83680" y="2697480"/>
            <a:ext cx="45262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dashboard that explains store data automatically.</a:t>
            </a:r>
            <a:endParaRPr lang="en-US" sz="1550" dirty="0"/>
          </a:p>
          <a:p>
            <a:r>
              <a:rPr lang="en-US" sz="15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unsupervised learning because the dataset has no labels.</a:t>
            </a:r>
            <a:endParaRPr lang="en-US" sz="1550" dirty="0"/>
          </a:p>
          <a:p>
            <a:r>
              <a:rPr lang="en-US" sz="15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results in business-friendly language.</a:t>
            </a:r>
            <a:endParaRPr lang="en-US" sz="1550" dirty="0"/>
          </a:p>
          <a:p>
            <a:r>
              <a:rPr lang="en-US" sz="15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 decision-making with groups, rules, and anomalies.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68680" y="56235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CADA"/>
                </a:solidFill>
              </a:rPr>
              <a:t>Core idea: upload a CSV → get understandable insights.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Shopping Behavior Analyzer  |  Data Mining Final Project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A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327648"/>
            <a:ext cx="10972800" cy="0"/>
          </a:xfrm>
          <a:prstGeom prst="line">
            <a:avLst/>
          </a:prstGeom>
          <a:noFill/>
          <a:ln w="12700">
            <a:solidFill>
              <a:srgbClr val="2330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&amp; System Flow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042416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raw transactions to business insights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7280" cy="0"/>
          </a:xfrm>
          <a:prstGeom prst="line">
            <a:avLst/>
          </a:prstGeom>
          <a:noFill/>
          <a:ln w="25400">
            <a:solidFill>
              <a:srgbClr val="FF4D6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83080"/>
            <a:ext cx="3200400" cy="4023360"/>
          </a:xfrm>
          <a:prstGeom prst="roundRect">
            <a:avLst>
              <a:gd name="adj" fmla="val 3429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57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Dataset Columns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5840" y="265176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4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CustomerID</a:t>
            </a:r>
            <a:endParaRPr lang="en-US" sz="1450" dirty="0"/>
          </a:p>
          <a:p>
            <a:r>
              <a:rPr lang="en-US" sz="14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InvoiceNo</a:t>
            </a:r>
            <a:endParaRPr lang="en-US" sz="1450" dirty="0"/>
          </a:p>
          <a:p>
            <a:r>
              <a:rPr lang="en-US" sz="14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Description</a:t>
            </a:r>
            <a:endParaRPr lang="en-US" sz="1450" dirty="0"/>
          </a:p>
          <a:p>
            <a:r>
              <a:rPr lang="en-US" sz="14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Quantity</a:t>
            </a:r>
            <a:endParaRPr lang="en-US" sz="1450" dirty="0"/>
          </a:p>
          <a:p>
            <a:r>
              <a:rPr lang="en-US" sz="14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UnitPrice</a:t>
            </a:r>
            <a:endParaRPr lang="en-US" sz="1450" dirty="0"/>
          </a:p>
          <a:p>
            <a:r>
              <a:rPr lang="en-US" sz="14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InvoiceDate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0584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ADA"/>
                </a:solidFill>
              </a:rPr>
              <a:t>Derived feature: TotalPrice = Quantity × UnitPrice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1783080"/>
            <a:ext cx="7223760" cy="4023360"/>
          </a:xfrm>
          <a:prstGeom prst="roundRect">
            <a:avLst>
              <a:gd name="adj" fmla="val 2727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057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Processing Pipeline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572000" y="2788920"/>
            <a:ext cx="1417320" cy="685800"/>
          </a:xfrm>
          <a:prstGeom prst="roundRect">
            <a:avLst>
              <a:gd name="adj" fmla="val 16000"/>
            </a:avLst>
          </a:prstGeom>
          <a:solidFill>
            <a:srgbClr val="111827"/>
          </a:solidFill>
          <a:ln w="12700">
            <a:solidFill>
              <a:srgbClr val="00C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2880360"/>
            <a:ext cx="12710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CSV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45152" y="3118104"/>
            <a:ext cx="1271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</a:rPr>
              <a:t>Uploaded sales file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5998464" y="2999232"/>
            <a:ext cx="155448" cy="246888"/>
          </a:xfrm>
          <a:prstGeom prst="chevron">
            <a:avLst/>
          </a:prstGeom>
          <a:solidFill>
            <a:srgbClr val="00CADA"/>
          </a:solidFill>
          <a:ln w="12700">
            <a:solidFill>
              <a:srgbClr val="00CA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2788920"/>
            <a:ext cx="1417320" cy="685800"/>
          </a:xfrm>
          <a:prstGeom prst="roundRect">
            <a:avLst>
              <a:gd name="adj" fmla="val 16000"/>
            </a:avLst>
          </a:prstGeom>
          <a:solidFill>
            <a:srgbClr val="111827"/>
          </a:solidFill>
          <a:ln w="12700">
            <a:solidFill>
              <a:srgbClr val="00C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45352" y="2880360"/>
            <a:ext cx="12710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Clean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45352" y="3118104"/>
            <a:ext cx="1271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</a:rPr>
              <a:t>Remove invalid values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7598664" y="2999232"/>
            <a:ext cx="155448" cy="246888"/>
          </a:xfrm>
          <a:prstGeom prst="chevron">
            <a:avLst/>
          </a:prstGeom>
          <a:solidFill>
            <a:srgbClr val="00CADA"/>
          </a:solidFill>
          <a:ln w="12700">
            <a:solidFill>
              <a:srgbClr val="00CA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2788920"/>
            <a:ext cx="1417320" cy="685800"/>
          </a:xfrm>
          <a:prstGeom prst="roundRect">
            <a:avLst>
              <a:gd name="adj" fmla="val 16000"/>
            </a:avLst>
          </a:prstGeom>
          <a:solidFill>
            <a:srgbClr val="111827"/>
          </a:solidFill>
          <a:ln w="12700">
            <a:solidFill>
              <a:srgbClr val="00CA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45552" y="2880360"/>
            <a:ext cx="12710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Features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845552" y="3118104"/>
            <a:ext cx="1271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</a:rPr>
              <a:t>Customer behavior summary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9198864" y="2999232"/>
            <a:ext cx="155448" cy="246888"/>
          </a:xfrm>
          <a:prstGeom prst="chevron">
            <a:avLst/>
          </a:prstGeom>
          <a:solidFill>
            <a:srgbClr val="00CADA"/>
          </a:solidFill>
          <a:ln w="12700">
            <a:solidFill>
              <a:srgbClr val="00CA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72600" y="2788920"/>
            <a:ext cx="1417320" cy="685800"/>
          </a:xfrm>
          <a:prstGeom prst="roundRect">
            <a:avLst>
              <a:gd name="adj" fmla="val 16000"/>
            </a:avLst>
          </a:prstGeom>
          <a:solidFill>
            <a:srgbClr val="111827"/>
          </a:solidFill>
          <a:ln w="12700">
            <a:solidFill>
              <a:srgbClr val="00CA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45752" y="2880360"/>
            <a:ext cx="12710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Scale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445752" y="3118104"/>
            <a:ext cx="1271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</a:rPr>
              <a:t>Normalize feature ranges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4572000" y="4023360"/>
            <a:ext cx="1417320" cy="685800"/>
          </a:xfrm>
          <a:prstGeom prst="roundRect">
            <a:avLst>
              <a:gd name="adj" fmla="val 16000"/>
            </a:avLst>
          </a:prstGeom>
          <a:solidFill>
            <a:srgbClr val="111827"/>
          </a:solidFill>
          <a:ln w="12700">
            <a:solidFill>
              <a:srgbClr val="00C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45152" y="4114800"/>
            <a:ext cx="12710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GMM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645152" y="4352544"/>
            <a:ext cx="1271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</a:rPr>
              <a:t>Customer groups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5998464" y="4233672"/>
            <a:ext cx="155448" cy="246888"/>
          </a:xfrm>
          <a:prstGeom prst="chevron">
            <a:avLst/>
          </a:prstGeom>
          <a:solidFill>
            <a:srgbClr val="00CADA"/>
          </a:solidFill>
          <a:ln w="12700">
            <a:solidFill>
              <a:srgbClr val="00CAD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72200" y="4023360"/>
            <a:ext cx="1417320" cy="685800"/>
          </a:xfrm>
          <a:prstGeom prst="roundRect">
            <a:avLst>
              <a:gd name="adj" fmla="val 16000"/>
            </a:avLst>
          </a:prstGeom>
          <a:solidFill>
            <a:srgbClr val="111827"/>
          </a:solidFill>
          <a:ln w="12700">
            <a:solidFill>
              <a:srgbClr val="00CA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45352" y="4114800"/>
            <a:ext cx="12710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t-SNE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245352" y="4352544"/>
            <a:ext cx="1271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</a:rPr>
              <a:t>Customer map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7598664" y="4233672"/>
            <a:ext cx="155448" cy="246888"/>
          </a:xfrm>
          <a:prstGeom prst="chevron">
            <a:avLst/>
          </a:prstGeom>
          <a:solidFill>
            <a:srgbClr val="00CADA"/>
          </a:solidFill>
          <a:ln w="12700">
            <a:solidFill>
              <a:srgbClr val="00CAD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72400" y="4023360"/>
            <a:ext cx="1417320" cy="685800"/>
          </a:xfrm>
          <a:prstGeom prst="roundRect">
            <a:avLst>
              <a:gd name="adj" fmla="val 16000"/>
            </a:avLst>
          </a:prstGeom>
          <a:solidFill>
            <a:srgbClr val="111827"/>
          </a:solidFill>
          <a:ln w="12700">
            <a:solidFill>
              <a:srgbClr val="00CAD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45552" y="4114800"/>
            <a:ext cx="12710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Apriori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845552" y="4352544"/>
            <a:ext cx="1271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</a:rPr>
              <a:t>Product patterns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9198864" y="4233672"/>
            <a:ext cx="155448" cy="246888"/>
          </a:xfrm>
          <a:prstGeom prst="chevron">
            <a:avLst/>
          </a:prstGeom>
          <a:solidFill>
            <a:srgbClr val="00CADA"/>
          </a:solidFill>
          <a:ln w="12700">
            <a:solidFill>
              <a:srgbClr val="00CAD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372600" y="4023360"/>
            <a:ext cx="1417320" cy="685800"/>
          </a:xfrm>
          <a:prstGeom prst="roundRect">
            <a:avLst>
              <a:gd name="adj" fmla="val 16000"/>
            </a:avLst>
          </a:prstGeom>
          <a:solidFill>
            <a:srgbClr val="111827"/>
          </a:solidFill>
          <a:ln w="12700">
            <a:solidFill>
              <a:srgbClr val="00CA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445752" y="4114800"/>
            <a:ext cx="12710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Forest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9445752" y="4352544"/>
            <a:ext cx="1271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</a:rPr>
              <a:t>Unusual customers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4617720" y="525780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Feature engineering creates: TotalSpent, NumTransactions, UniqueProducts, RecencyDays, AvgTransactionValue.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8640" y="64465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Shopping Behavior Analyzer  |  Data Mining Final Project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A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327648"/>
            <a:ext cx="10972800" cy="0"/>
          </a:xfrm>
          <a:prstGeom prst="line">
            <a:avLst/>
          </a:prstGeom>
          <a:noFill/>
          <a:ln w="12700">
            <a:solidFill>
              <a:srgbClr val="2330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Mining Techniques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042416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4 unsupervised methods used in the system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7280" cy="0"/>
          </a:xfrm>
          <a:prstGeom prst="line">
            <a:avLst/>
          </a:prstGeom>
          <a:noFill/>
          <a:ln w="25400">
            <a:solidFill>
              <a:srgbClr val="FF4D6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5120640" cy="1463040"/>
          </a:xfrm>
          <a:prstGeom prst="roundRect">
            <a:avLst>
              <a:gd name="adj" fmla="val 7500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11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ADA"/>
                </a:solidFill>
              </a:rPr>
              <a:t>Customer Groups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60120" y="226771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GMM Clustering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265176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Groups similar customers and gives a confidence probability for each group.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120640" cy="1463040"/>
          </a:xfrm>
          <a:prstGeom prst="roundRect">
            <a:avLst>
              <a:gd name="adj" fmla="val 7500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011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ADA"/>
                </a:solidFill>
              </a:rPr>
              <a:t>Customer Map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92240" y="226771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t-SNE Visualization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92240" y="265176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Converts customer features into a 2D map where nearby points behave similarly.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4023360"/>
            <a:ext cx="5120640" cy="1463040"/>
          </a:xfrm>
          <a:prstGeom prst="roundRect">
            <a:avLst>
              <a:gd name="adj" fmla="val 7500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206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ADA"/>
                </a:solidFill>
              </a:rPr>
              <a:t>Product Patterns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446227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Apriori Rules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60120" y="484632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Finds products frequently bought together using support, confidence, and lift.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4023360"/>
            <a:ext cx="5120640" cy="1463040"/>
          </a:xfrm>
          <a:prstGeom prst="roundRect">
            <a:avLst>
              <a:gd name="adj" fmla="val 7500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4206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ADA"/>
                </a:solidFill>
              </a:rPr>
              <a:t>Unusual Customers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92240" y="446227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Isolation Forest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492240" y="484632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Detects customers whose behavior is very different from the majority.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Shopping Behavior Analyzer  |  Data Mining Final Project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A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327648"/>
            <a:ext cx="10972800" cy="0"/>
          </a:xfrm>
          <a:prstGeom prst="line">
            <a:avLst/>
          </a:prstGeom>
          <a:noFill/>
          <a:ln w="12700">
            <a:solidFill>
              <a:srgbClr val="2330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 Dashboard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042416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outputs from the final application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7280" cy="0"/>
          </a:xfrm>
          <a:prstGeom prst="line">
            <a:avLst/>
          </a:prstGeom>
          <a:noFill/>
          <a:ln w="25400">
            <a:solidFill>
              <a:srgbClr val="FF4D6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91640"/>
            <a:ext cx="5303520" cy="1691640"/>
          </a:xfrm>
          <a:prstGeom prst="roundRect">
            <a:avLst>
              <a:gd name="adj" fmla="val 6486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7" name="Image 0" descr="/mnt/data/a94c9ede-6708-4930-a174-25aae68b42d7.png">    </p:cNvPr>
          <p:cNvPicPr>
            <a:picLocks noChangeAspect="1"/>
          </p:cNvPicPr>
          <p:nvPr/>
        </p:nvPicPr>
        <p:blipFill>
          <a:blip r:embed="rId1"/>
          <a:srcRect l="0" r="0" t="30064" b="30064"/>
          <a:stretch/>
        </p:blipFill>
        <p:spPr>
          <a:xfrm>
            <a:off x="758952" y="1764792"/>
            <a:ext cx="5157216" cy="1280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0632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ADA"/>
                </a:solidFill>
              </a:rPr>
              <a:t>Customer Groups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03520" cy="1691640"/>
          </a:xfrm>
          <a:prstGeom prst="roundRect">
            <a:avLst>
              <a:gd name="adj" fmla="val 6486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0" name="Image 1" descr="/mnt/data/9801b552-38f8-4142-91cd-4c6752b1a1dc.png">    </p:cNvPr>
          <p:cNvPicPr>
            <a:picLocks noChangeAspect="1"/>
          </p:cNvPicPr>
          <p:nvPr/>
        </p:nvPicPr>
        <p:blipFill>
          <a:blip r:embed="rId2"/>
          <a:srcRect l="0" r="0" t="29053" b="29053"/>
          <a:stretch/>
        </p:blipFill>
        <p:spPr>
          <a:xfrm>
            <a:off x="6336792" y="1764792"/>
            <a:ext cx="5157216" cy="12801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0" y="30632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ADA"/>
                </a:solidFill>
              </a:rPr>
              <a:t>Customer Map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85800" y="3886200"/>
            <a:ext cx="5303520" cy="1691640"/>
          </a:xfrm>
          <a:prstGeom prst="roundRect">
            <a:avLst>
              <a:gd name="adj" fmla="val 6486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3" name="Image 2" descr="/mnt/data/33751584-d2a5-4c39-94a2-c6633abb5705.png">    </p:cNvPr>
          <p:cNvPicPr>
            <a:picLocks noChangeAspect="1"/>
          </p:cNvPicPr>
          <p:nvPr/>
        </p:nvPicPr>
        <p:blipFill>
          <a:blip r:embed="rId3"/>
          <a:srcRect l="0" r="0" t="20101" b="20101"/>
          <a:stretch/>
        </p:blipFill>
        <p:spPr>
          <a:xfrm>
            <a:off x="758952" y="3959352"/>
            <a:ext cx="5157216" cy="12801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960" y="525780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ADA"/>
                </a:solidFill>
              </a:rPr>
              <a:t>Products Bought Together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263640" y="3886200"/>
            <a:ext cx="5303520" cy="1691640"/>
          </a:xfrm>
          <a:prstGeom prst="roundRect">
            <a:avLst>
              <a:gd name="adj" fmla="val 6486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6" name="Image 3" descr="/mnt/data/b399a5a4-f223-47c7-82ed-91a41227a007.png">    </p:cNvPr>
          <p:cNvPicPr>
            <a:picLocks noChangeAspect="1"/>
          </p:cNvPicPr>
          <p:nvPr/>
        </p:nvPicPr>
        <p:blipFill>
          <a:blip r:embed="rId4"/>
          <a:srcRect l="0" r="0" t="24805" b="24805"/>
          <a:stretch/>
        </p:blipFill>
        <p:spPr>
          <a:xfrm>
            <a:off x="6336792" y="3959352"/>
            <a:ext cx="5157216" cy="12801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00800" y="525780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ADA"/>
                </a:solidFill>
              </a:rPr>
              <a:t>Unusual Customers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868680" y="5897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Example results: Group 2 = highest spenders  •  Milk + Banana → Cereal  •  9 unusual customers detected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48640" y="64465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Shopping Behavior Analyzer  |  Data Mining Final Project</a:t>
            </a:r>
            <a:endParaRPr lang="en-US" sz="850" dirty="0"/>
          </a:p>
        </p:txBody>
      </p:sp>
      <p:sp>
        <p:nvSpPr>
          <p:cNvPr id="20" name="Text 14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A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327648"/>
            <a:ext cx="10972800" cy="0"/>
          </a:xfrm>
          <a:prstGeom prst="line">
            <a:avLst/>
          </a:prstGeom>
          <a:noFill/>
          <a:ln w="12700">
            <a:solidFill>
              <a:srgbClr val="2330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 &amp; Future Work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042416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project achieved and what comes next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7280" cy="0"/>
          </a:xfrm>
          <a:prstGeom prst="line">
            <a:avLst/>
          </a:prstGeom>
          <a:noFill/>
          <a:ln w="25400">
            <a:solidFill>
              <a:srgbClr val="FF4D6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28800"/>
            <a:ext cx="5120640" cy="3383280"/>
          </a:xfrm>
          <a:prstGeom prst="roundRect">
            <a:avLst>
              <a:gd name="adj" fmla="val 324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1031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Conclusion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2651760"/>
            <a:ext cx="4297680" cy="2103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4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a complete unsupervised retail analytics dashboard.</a:t>
            </a:r>
            <a:endParaRPr lang="en-US" sz="1450" dirty="0"/>
          </a:p>
          <a:p>
            <a:r>
              <a:rPr lang="en-US" sz="14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Grouped customers and visualized behavior similarity.</a:t>
            </a:r>
            <a:endParaRPr lang="en-US" sz="1450" dirty="0"/>
          </a:p>
          <a:p>
            <a:r>
              <a:rPr lang="en-US" sz="14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Discovered product relationships and unusual customers.</a:t>
            </a:r>
            <a:endParaRPr lang="en-US" sz="1450" dirty="0"/>
          </a:p>
          <a:p>
            <a:r>
              <a:rPr lang="en-US" sz="14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the interface for non-technical store owners.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3383280"/>
          </a:xfrm>
          <a:prstGeom prst="roundRect">
            <a:avLst>
              <a:gd name="adj" fmla="val 324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1031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Future Work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37960" y="2651760"/>
            <a:ext cx="4297680" cy="2103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4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larger real-world retail datasets.</a:t>
            </a:r>
            <a:endParaRPr lang="en-US" sz="1450" dirty="0"/>
          </a:p>
          <a:p>
            <a:r>
              <a:rPr lang="en-US" sz="14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product recommendation features.</a:t>
            </a:r>
            <a:endParaRPr lang="en-US" sz="1450" dirty="0"/>
          </a:p>
          <a:p>
            <a:r>
              <a:rPr lang="en-US" sz="14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 the dashboard online.</a:t>
            </a:r>
            <a:endParaRPr lang="en-US" sz="1450" dirty="0"/>
          </a:p>
          <a:p>
            <a:r>
              <a:rPr lang="en-US" sz="14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explanations for unusual customers.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57607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ADA"/>
                </a:solidFill>
              </a:rPr>
              <a:t>Thank you — Questions?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Shopping Behavior Analyzer  |  Data Mining Final Project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A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Data Mining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Shopping Behavior Analyzer</dc:title>
  <dc:subject>Smart Shopping Behavior Analyzer</dc:subject>
  <dc:creator>OpenAI</dc:creator>
  <cp:lastModifiedBy>OpenAI</cp:lastModifiedBy>
  <cp:revision>1</cp:revision>
  <dcterms:created xsi:type="dcterms:W3CDTF">2026-05-16T10:10:07Z</dcterms:created>
  <dcterms:modified xsi:type="dcterms:W3CDTF">2026-05-16T10:10:07Z</dcterms:modified>
</cp:coreProperties>
</file>